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iaxing Wa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F669A1-6987-4ED3-ABCC-0EF20DAD005A}">
  <a:tblStyle styleId="{94F669A1-6987-4ED3-ABCC-0EF20DAD00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font" Target="fonts/HelveticaNeue-bold.fntdata"/><Relationship Id="rId10" Type="http://schemas.openxmlformats.org/officeDocument/2006/relationships/slide" Target="slides/slide3.xml"/><Relationship Id="rId21" Type="http://schemas.openxmlformats.org/officeDocument/2006/relationships/font" Target="fonts/HelveticaNeue-regular.fntdata"/><Relationship Id="rId13" Type="http://schemas.openxmlformats.org/officeDocument/2006/relationships/slide" Target="slides/slide6.xml"/><Relationship Id="rId24" Type="http://schemas.openxmlformats.org/officeDocument/2006/relationships/font" Target="fonts/HelveticaNeue-boldItalic.fntdata"/><Relationship Id="rId12" Type="http://schemas.openxmlformats.org/officeDocument/2006/relationships/slide" Target="slides/slide5.xml"/><Relationship Id="rId23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commentAuthors" Target="commentAuthors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1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30T01:33:38.322">
    <p:pos x="6000" y="0"/>
    <p:text>i don't think you need to show this slide, but if anyone asks what each block in my diagram contains, you can show this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uggingface.co/norwoodsystems/norwood-speechVSnoise-AST-based/blob/main/model.safetensors" TargetMode="External"/><Relationship Id="rId3" Type="http://schemas.openxmlformats.org/officeDocument/2006/relationships/hyperlink" Target="https://arxiv.org/abs/2104.03538" TargetMode="External"/><Relationship Id="rId4" Type="http://schemas.openxmlformats.org/officeDocument/2006/relationships/hyperlink" Target="https://github.com/speechbrain/speechbrain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Tamerlan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10 minutes of presentation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just to remember in case we forget from TA: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presentation should be focused on comparing our results with the baseline along with ablation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we should focus on our motivations and talk about that (we want to 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classify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noise, not necessarily denoise)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do NOT need to show loss function graphs as ours doesn't really say anything</a:t>
            </a:r>
            <a:endParaRPr sz="24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7741e0d1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7741e0d1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Michael</a:t>
            </a:r>
            <a:endParaRPr/>
          </a:p>
        </p:txBody>
      </p:sp>
      <p:sp>
        <p:nvSpPr>
          <p:cNvPr id="72" name="Google Shape;72;g397741e0d19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7a58551a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7a58551a7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Punnisa</a:t>
            </a:r>
            <a:endParaRPr/>
          </a:p>
        </p:txBody>
      </p:sp>
      <p:sp>
        <p:nvSpPr>
          <p:cNvPr id="80" name="Google Shape;80;g397a58551a7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a58551a7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a58551a7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Tamerlan</a:t>
            </a:r>
            <a:endParaRPr/>
          </a:p>
        </p:txBody>
      </p:sp>
      <p:sp>
        <p:nvSpPr>
          <p:cNvPr id="88" name="Google Shape;88;g397a58551a7_0_2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7a58551a7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7a58551a7_0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Punnisa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</a:pPr>
            <a:r>
              <a:rPr lang="en-US" sz="2400"/>
              <a:t>Paper with baseline weights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</a:pPr>
            <a:r>
              <a:rPr lang="en-US" sz="1800" u="sng">
                <a:solidFill>
                  <a:schemeClr val="hlink"/>
                </a:solidFill>
                <a:hlinkClick r:id="rId2"/>
              </a:rPr>
              <a:t>https://huggingface.co/norwoodsystems/norwood-speechVSnoise-AST-based/blob/main/model.safetensors</a:t>
            </a:r>
            <a:r>
              <a:rPr lang="en-US" sz="1800"/>
              <a:t> (classification)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https://arxiv.org/abs/2104.03538</a:t>
            </a:r>
            <a:r>
              <a:rPr lang="en-US" sz="1800"/>
              <a:t> (denoising)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</a:pPr>
            <a:r>
              <a:rPr lang="en-US" sz="1800"/>
              <a:t>using speechbrain to download weights: 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https://github.com/speechbrain/speechbrain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</a:pPr>
            <a:r>
              <a:rPr lang="en-US" sz="2400"/>
              <a:t>Ablations (include here or later?)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</a:pPr>
            <a:r>
              <a:rPr lang="en-US" sz="1800"/>
              <a:t>CNN-only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</a:pPr>
            <a:r>
              <a:rPr lang="en-US" sz="1800"/>
              <a:t>VAE-only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97a58551a7_0_3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7a58551a7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7a58551a7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Decoder/encoder - michael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CNN encoder to extract features of the audio to </a:t>
            </a:r>
            <a:r>
              <a:rPr lang="en-US"/>
              <a:t>learn</a:t>
            </a:r>
            <a:r>
              <a:rPr lang="en-US"/>
              <a:t> and reduce dimensions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inputs/outputs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attention and softgate - tamerlan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/>
              <a:t>CNN decoder using transpose convolution to reconstruct the audio from some latent space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97a58551a7_0_1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7a58551a7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7a58551a7_3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Mint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MOS : mean opinion score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audio from 1-5 1:bad, 5:good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spectral convergence: how predicted spectogram is close to the clean spectogram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PESQ: </a:t>
            </a:r>
            <a:r>
              <a:rPr lang="en-US"/>
              <a:t>How close does this sound to clean speech, perceptually?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CSIG: How natural and undistorted does the speech sound? speech signal distortion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CBAK: How much does the background noise interfere?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COVL: Overall, how good does this audio sound?</a:t>
            </a:r>
            <a:endParaRPr/>
          </a:p>
        </p:txBody>
      </p:sp>
      <p:sp>
        <p:nvSpPr>
          <p:cNvPr id="116" name="Google Shape;116;g397a58551a7_3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9e424b0c5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9e424b0c5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Mint</a:t>
            </a:r>
            <a:endParaRPr/>
          </a:p>
        </p:txBody>
      </p:sp>
      <p:sp>
        <p:nvSpPr>
          <p:cNvPr id="124" name="Google Shape;124;g3d9e424b0c5_0_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7a58551a7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7a58551a7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Tamerlan</a:t>
            </a:r>
            <a:endParaRPr/>
          </a:p>
        </p:txBody>
      </p:sp>
      <p:sp>
        <p:nvSpPr>
          <p:cNvPr id="135" name="Google Shape;135;g397a58551a7_0_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e424b0c5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9e424b0c5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Michael - Talk about range of each metric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PESQ range: 1 - meaning the person hearing this cannot </a:t>
            </a:r>
            <a:r>
              <a:rPr lang="en-US"/>
              <a:t>understand</a:t>
            </a:r>
            <a:r>
              <a:rPr lang="en-US"/>
              <a:t>  4.5 - where a person can understand without trying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CSIG range: 1 - meaning heavy signal distortion; 5 - meaning little to no signal distortion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CBAK range: 1 - heavy background noise/intrusion; 5 - meaning background noise not noticeable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COVL range: 1 - bad mean opinion score (measure of human perceived quality of audio), so not </a:t>
            </a:r>
            <a:r>
              <a:rPr lang="en-US"/>
              <a:t>good; 5 - good mean opinion score (people hear this audio and think it is excellent quality)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CSRT VCTK - center for speech technology research, voice cloning toolkit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people speech - hugging face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original - the samples not used in the training for our model but come from that dataset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9e424b0c5_0_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8ef0a344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a8ef0a344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Michael</a:t>
            </a:r>
            <a:endParaRPr/>
          </a:p>
        </p:txBody>
      </p:sp>
      <p:sp>
        <p:nvSpPr>
          <p:cNvPr id="155" name="Google Shape;155;g3da8ef0a344_0_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a58551a7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7a58551a7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Tamerlan</a:t>
            </a:r>
            <a:endParaRPr/>
          </a:p>
        </p:txBody>
      </p:sp>
      <p:sp>
        <p:nvSpPr>
          <p:cNvPr id="164" name="Google Shape;164;g397a58551a7_0_2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f75cf61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af75cf61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af75cf615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3800" y="4588669"/>
            <a:ext cx="726281" cy="32623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0" y="-57150"/>
            <a:ext cx="9144000" cy="2171700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609600" y="4629150"/>
            <a:ext cx="4664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Boston University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College of Engineering</a:t>
            </a:r>
            <a:endParaRPr/>
          </a:p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685800" y="2400300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  <a:defRPr sz="1800">
                <a:solidFill>
                  <a:srgbClr val="CCCCCC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685800" y="12001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609600" y="1371600"/>
            <a:ext cx="79248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09600" y="1371600"/>
            <a:ext cx="38862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8200" y="1371600"/>
            <a:ext cx="38862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30238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30238" y="1260872"/>
            <a:ext cx="3868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30238" y="1878806"/>
            <a:ext cx="3868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887788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630238" y="1543050"/>
            <a:ext cx="29496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/>
          <p:nvPr>
            <p:ph idx="2" type="pic"/>
          </p:nvPr>
        </p:nvSpPr>
        <p:spPr>
          <a:xfrm>
            <a:off x="3887788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30238" y="1543050"/>
            <a:ext cx="29496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/>
        </p:nvSpPr>
        <p:spPr>
          <a:xfrm>
            <a:off x="6477000" y="547688"/>
            <a:ext cx="2303400" cy="3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/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609599" y="547134"/>
            <a:ext cx="5638800" cy="3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-32147"/>
            <a:ext cx="9144000" cy="260700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09600" y="1371600"/>
            <a:ext cx="79248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2675B4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609600" y="1143000"/>
            <a:ext cx="7924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Boston University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Slideshow Title Goes Here</a:t>
            </a:r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4588669"/>
            <a:ext cx="726281" cy="3262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609600" y="4629150"/>
            <a:ext cx="4664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Boston University</a:t>
            </a:r>
            <a:r>
              <a:rPr lang="en-US" sz="1200">
                <a:solidFill>
                  <a:schemeClr val="dk1"/>
                </a:solidFill>
              </a:rPr>
              <a:t> College of Engineering</a:t>
            </a:r>
            <a:endParaRPr/>
          </a:p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orc5La91iiI86dCLuQm-dWyb_DaLtJxW/view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drive.google.com/file/d/1nXJE-sQC8rNYpDP678nHDuBZTr3ZOUvx/view" TargetMode="External"/><Relationship Id="rId7" Type="http://schemas.openxmlformats.org/officeDocument/2006/relationships/hyperlink" Target="http://drive.google.com/file/d/1NODlOuPxpB-cs7GhdM5BY7MGIN0kHrr5/view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la8vN8OQzIttvQKo5ELrM5SbjYuz0TCj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www.youtube.com/watch?v=tR4hAZV-1kQ" TargetMode="External"/><Relationship Id="rId6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ctrTitle"/>
          </p:nvPr>
        </p:nvSpPr>
        <p:spPr>
          <a:xfrm>
            <a:off x="685800" y="12001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Denoising Speech from Background Noise</a:t>
            </a:r>
            <a:endParaRPr b="1"/>
          </a:p>
        </p:txBody>
      </p:sp>
      <p:sp>
        <p:nvSpPr>
          <p:cNvPr id="68" name="Google Shape;68;p12"/>
          <p:cNvSpPr txBox="1"/>
          <p:nvPr>
            <p:ph idx="1" type="subTitle"/>
          </p:nvPr>
        </p:nvSpPr>
        <p:spPr>
          <a:xfrm>
            <a:off x="685800" y="2400300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434343"/>
                </a:solidFill>
              </a:rPr>
              <a:t>EC523 Final Project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434343"/>
                </a:solidFill>
              </a:rPr>
              <a:t>Tamerlan Baimurat, Michael Lwe,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434343"/>
                </a:solidFill>
              </a:rPr>
              <a:t>Punnisa Amornsirikul,</a:t>
            </a:r>
            <a:r>
              <a:rPr lang="en-US">
                <a:solidFill>
                  <a:srgbClr val="434343"/>
                </a:solidFill>
              </a:rPr>
              <a:t> Jiaxing Wang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434343"/>
                </a:solidFill>
              </a:rPr>
              <a:t>April 30, 2026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Agenda</a:t>
            </a:r>
            <a:endParaRPr b="1"/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609600" y="1371600"/>
            <a:ext cx="79248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Background &amp; Motivation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Baseline Model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Our Model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Training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Results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Next Steps</a:t>
            </a:r>
            <a:endParaRPr/>
          </a:p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Motivation</a:t>
            </a:r>
            <a:endParaRPr b="1"/>
          </a:p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609600" y="1371600"/>
            <a:ext cx="79248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600"/>
              <a:buChar char="▪"/>
            </a:pPr>
            <a:r>
              <a:rPr lang="en-US" sz="2200"/>
              <a:t>Real-world audio is often corrupted by background noise</a:t>
            </a:r>
            <a:endParaRPr sz="22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Denoising the background audio can capture audio of interest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2200"/>
              <a:t>Blind noise suppression can degrade clean audio</a:t>
            </a:r>
            <a:endParaRPr sz="22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We introduce </a:t>
            </a:r>
            <a:r>
              <a:rPr lang="en-US" sz="1600"/>
              <a:t>a classification step before denoising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Denoising is conditional on the probability from classification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2200"/>
              <a:t>Challenges:</a:t>
            </a:r>
            <a:endParaRPr sz="22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Overlapping signals can create ambiguous mixtures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Risk of overfitting due to diverse noise types</a:t>
            </a:r>
            <a:endParaRPr sz="1600"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Background</a:t>
            </a:r>
            <a:endParaRPr b="1"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609600" y="1380502"/>
            <a:ext cx="5063400" cy="318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Audio representations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Waveform vs. STFT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Waveform - suffers from memory usage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STFT - needs precise engineering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Temporal Dependencies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Audio is inherently sequential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Efficient Sequential Modeling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Gated DeltaNet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Flash Attention</a:t>
            </a:r>
            <a:endParaRPr/>
          </a:p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125" y="1641055"/>
            <a:ext cx="3715275" cy="2322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Baseline Model: MetricGAN+</a:t>
            </a:r>
            <a:endParaRPr b="1"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609600" y="1221200"/>
            <a:ext cx="4249500" cy="313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Model trained </a:t>
            </a:r>
            <a:r>
              <a:rPr lang="en-US" sz="2000"/>
              <a:t>to maximize a learned approximation of PESQ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Generator:</a:t>
            </a:r>
            <a:endParaRPr sz="20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-US" sz="1500"/>
              <a:t>input: noisy speech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-US" sz="1500"/>
              <a:t>output: enhanced speech</a:t>
            </a:r>
            <a:endParaRPr sz="15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Discriminator: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-US" sz="1500"/>
              <a:t>input: speech (cleaned or enhanced)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-US" sz="1500"/>
              <a:t>output: predicted metric score</a:t>
            </a:r>
            <a:r>
              <a:rPr lang="en-US" sz="1500"/>
              <a:t> </a:t>
            </a:r>
            <a:r>
              <a:rPr lang="en-US" sz="1500"/>
              <a:t>(e.g. PESQ)</a:t>
            </a:r>
            <a:endParaRPr sz="1500"/>
          </a:p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6" title="Screenshot 2569-04-28 at 13.41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8977" y="1090165"/>
            <a:ext cx="3812799" cy="339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Our </a:t>
            </a:r>
            <a:r>
              <a:rPr b="1" lang="en-US"/>
              <a:t>Model Architecture</a:t>
            </a:r>
            <a:endParaRPr b="1"/>
          </a:p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609600" y="1371600"/>
            <a:ext cx="40668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Feature</a:t>
            </a:r>
            <a:r>
              <a:rPr lang="en-US" sz="1800"/>
              <a:t> Extraction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3x convolution blocks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Noise Classification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DeltaNet + Full Attention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Denoising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DeltaNet + Full Attention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Deconvolution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Final Output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000" y="1079688"/>
            <a:ext cx="3789102" cy="349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{&quot;red&quot;:0,&quot;green&quot;:0,&quot;blue&quot;:0,&quot;origURL&quot;:&quot;https://www.codecogs.com/eqnedit.php?latex=%5Ctext%7Bout%7D%20%3D%20(p)(%5Ctext%7Bnoisy%7D)%20%2B%20(1-p)(%5Ctext%7Bclean%7D)#0&quot;,&quot;size&quot;:16,&quot;width&quot;:320.2204724409449,&quot;height&quot;:229.51181102362204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2750" y="3980400"/>
            <a:ext cx="3079252" cy="2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Training and Evaluation Setup</a:t>
            </a:r>
            <a:endParaRPr b="1"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609600" y="1371600"/>
            <a:ext cx="79248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600"/>
              <a:buChar char="▪"/>
            </a:pPr>
            <a:r>
              <a:rPr lang="en-US" sz="2200"/>
              <a:t>Optimizer: AdamW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2200"/>
              <a:t>Cosine Learning Rate Annealing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2200"/>
              <a:t>Loss function: L1 + spectral convergence</a:t>
            </a:r>
            <a:endParaRPr sz="22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2200"/>
              <a:t>Saving parameters every 5 epochs</a:t>
            </a:r>
            <a:endParaRPr sz="2200"/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▪"/>
            </a:pPr>
            <a:r>
              <a:rPr lang="en-US" sz="1550"/>
              <a:t>50 epochs total</a:t>
            </a:r>
            <a:endParaRPr sz="155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2200"/>
              <a:t>Metrics: </a:t>
            </a:r>
            <a:endParaRPr sz="22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Perceptual Evaluation of Quality (PESQ)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Signal Distortion MOS prediction (CSIG)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Background Intrusiveness MOS prediction (CBAK)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Overall Quality MOS prediction (COVL)</a:t>
            </a:r>
            <a:endParaRPr sz="1600"/>
          </a:p>
        </p:txBody>
      </p:sp>
      <p:sp>
        <p:nvSpPr>
          <p:cNvPr id="120" name="Google Shape;120;p18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Results: Testing Set </a:t>
            </a:r>
            <a:r>
              <a:rPr b="1" lang="en-US"/>
              <a:t>Spectrograms</a:t>
            </a:r>
            <a:endParaRPr b="1"/>
          </a:p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75" y="1636750"/>
            <a:ext cx="8782355" cy="18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 title="ground_truth.wa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7675" y="35357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 title="input.wav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2650" y="35357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 title="output.wav">
            <a:hlinkClick r:id="rId7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2700" y="353579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Results: Inference</a:t>
            </a:r>
            <a:endParaRPr b="1"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9" name="Google Shape;139;p20" title="cs_yt_video_output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4250" y="25717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>
            <p:ph type="title"/>
          </p:nvPr>
        </p:nvSpPr>
        <p:spPr>
          <a:xfrm>
            <a:off x="5415300" y="1964850"/>
            <a:ext cx="27351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Output:</a:t>
            </a:r>
            <a:endParaRPr b="1"/>
          </a:p>
        </p:txBody>
      </p:sp>
      <p:pic>
        <p:nvPicPr>
          <p:cNvPr descr="Win CS:GO Skins Now:  https://gamdom.com &#10;Use Code 'mellowcsgo' For Free $$&#10;&#10;🍧Just some of the best CSGO pro interviews of all time, Enjoy!&#10;&#10;┉┉┉┉┉┉┉┉┉┉┉┉┉┉┉┉┉┉┉┉┉┉┉┉┉┉┉┉┉┉&#10;&#10;🍇My Twitter: https://twitter.com/Mellowcsg&#10;&#10;🍍SUBSCRIBE: https://www.youtube.com/channel/UCu12c4rmcm_A3gI2ZTBYNRg?sub_confirmation=1&#10;&#10;┉┉┉┉┉┉┉┉┉┉┉┉┉┉┉┉┉┉┉┉┉┉┉┉┉┉┉┉┉┉&#10;&#10;💽Outro Song: gate 문 - gate x duumu - sunset from my desk &#10;Link: https://soundcloud.com/will-mccarthy/gate-x-duumu-sunset-from-my-desk-scrapped&#10;&#10;┉┉┉┉┉┉┉┉┉┉┉┉┉┉┉┉┉┉┉┉┉┉┉┉┉┉┉┉┉┉&#10;&#10;💗Thanks for Watching!💝&#10;(~˘▾˘)~( ͡ᵔ ͜ʖ ͡ᵔ )\ (•◡•) /" id="141" name="Google Shape;141;p20" title="The Funniest (&amp; Cringiest?) CS:GO Pro Interviews Of All Time...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6375" y="1943100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>
            <p:ph type="title"/>
          </p:nvPr>
        </p:nvSpPr>
        <p:spPr>
          <a:xfrm>
            <a:off x="962825" y="1428600"/>
            <a:ext cx="27351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Input</a:t>
            </a:r>
            <a:r>
              <a:rPr b="1" lang="en-US"/>
              <a:t>: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Results: </a:t>
            </a:r>
            <a:r>
              <a:rPr b="1" lang="en-US"/>
              <a:t>Model vs. Baseline</a:t>
            </a:r>
            <a:endParaRPr b="1"/>
          </a:p>
        </p:txBody>
      </p:sp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0" name="Google Shape;150;p21"/>
          <p:cNvGraphicFramePr/>
          <p:nvPr/>
        </p:nvGraphicFramePr>
        <p:xfrm>
          <a:off x="1930400" y="13831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{94F669A1-6987-4ED3-ABCC-0EF20DAD005A}</a:tableStyleId>
              </a:tblPr>
              <a:tblGrid>
                <a:gridCol w="1320800"/>
                <a:gridCol w="1320800"/>
                <a:gridCol w="1320800"/>
                <a:gridCol w="1320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PESQ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Original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People Speech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CSRT VCTK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Our Model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3.1383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2.0107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3.3475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Baseline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1.996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1.9709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2.8508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1" name="Google Shape;151;p21"/>
          <p:cNvGraphicFramePr/>
          <p:nvPr/>
        </p:nvGraphicFramePr>
        <p:xfrm>
          <a:off x="1930400" y="27956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{94F669A1-6987-4ED3-ABCC-0EF20DAD005A}</a:tableStyleId>
              </a:tblPr>
              <a:tblGrid>
                <a:gridCol w="1320800"/>
                <a:gridCol w="1320800"/>
                <a:gridCol w="1320800"/>
                <a:gridCol w="1320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CSIG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Original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People Speech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CSRT VCTK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Our Model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4.5913</a:t>
                      </a:r>
                      <a:endParaRPr sz="13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3.5850</a:t>
                      </a:r>
                      <a:endParaRPr sz="13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4.9634</a:t>
                      </a:r>
                      <a:endParaRPr sz="13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Baseline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3.367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3.3451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4.0384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Results: </a:t>
            </a:r>
            <a:r>
              <a:rPr b="1" lang="en-US"/>
              <a:t>Model vs. Baseline</a:t>
            </a:r>
            <a:endParaRPr b="1"/>
          </a:p>
        </p:txBody>
      </p:sp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9" name="Google Shape;159;p22"/>
          <p:cNvGraphicFramePr/>
          <p:nvPr/>
        </p:nvGraphicFramePr>
        <p:xfrm>
          <a:off x="1930400" y="1404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{94F669A1-6987-4ED3-ABCC-0EF20DAD005A}</a:tableStyleId>
              </a:tblPr>
              <a:tblGrid>
                <a:gridCol w="1320800"/>
                <a:gridCol w="1320800"/>
                <a:gridCol w="1320800"/>
                <a:gridCol w="1320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CBAK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Original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People Speech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CSRT VCTK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Our Model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3.9756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3.5016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4.9923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Baseline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2.625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3.0535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3.5814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" name="Google Shape;160;p22"/>
          <p:cNvGraphicFramePr/>
          <p:nvPr/>
        </p:nvGraphicFramePr>
        <p:xfrm>
          <a:off x="1930400" y="2816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{94F669A1-6987-4ED3-ABCC-0EF20DAD005A}</a:tableStyleId>
              </a:tblPr>
              <a:tblGrid>
                <a:gridCol w="1320800"/>
                <a:gridCol w="1320800"/>
                <a:gridCol w="1320800"/>
                <a:gridCol w="1320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COVL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Original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People Speech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CSRT VCTK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Our Model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3.9236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2.8081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4.2822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Baseline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2.644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2.6374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3.4311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609600" y="5715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Issues and Future Work</a:t>
            </a:r>
            <a:endParaRPr b="1"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609600" y="1371600"/>
            <a:ext cx="79248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36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Does not generalize well across all types of noise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Different types of datasets to test robustness</a:t>
            </a:r>
            <a:endParaRPr sz="22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Other languages, environmental factors, etc.</a:t>
            </a:r>
            <a:endParaRPr sz="16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Live inference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STFT (pos + complex vals) compared to </a:t>
            </a:r>
            <a:r>
              <a:rPr lang="en-US" sz="2200"/>
              <a:t>magnitude</a:t>
            </a:r>
            <a:r>
              <a:rPr lang="en-US" sz="2200"/>
              <a:t> STFT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More Ablations:</a:t>
            </a:r>
            <a:endParaRPr sz="22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Deeper layers for Encoder and Decoder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More Attention layers</a:t>
            </a:r>
            <a:endParaRPr sz="16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Utilize state space architecture</a:t>
            </a:r>
            <a:endParaRPr sz="2200"/>
          </a:p>
        </p:txBody>
      </p:sp>
      <p:sp>
        <p:nvSpPr>
          <p:cNvPr id="168" name="Google Shape;168;p23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534400" y="4694156"/>
            <a:ext cx="462000" cy="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4">
            <a:alphaModFix/>
          </a:blip>
          <a:srcRect b="52492" l="0" r="0" t="0"/>
          <a:stretch/>
        </p:blipFill>
        <p:spPr>
          <a:xfrm>
            <a:off x="413050" y="978350"/>
            <a:ext cx="4510020" cy="299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 rotWithShape="1">
          <a:blip r:embed="rId4">
            <a:alphaModFix/>
          </a:blip>
          <a:srcRect b="0" l="0" r="0" t="48773"/>
          <a:stretch/>
        </p:blipFill>
        <p:spPr>
          <a:xfrm>
            <a:off x="4480425" y="848600"/>
            <a:ext cx="4299823" cy="308127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/>
          <p:nvPr>
            <p:ph type="title"/>
          </p:nvPr>
        </p:nvSpPr>
        <p:spPr>
          <a:xfrm>
            <a:off x="537925" y="334100"/>
            <a:ext cx="7924800" cy="51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Model Architecture Expanded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